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A28121-13E0-4BCF-90D3-1050FFB364F7}">
  <a:tblStyle styleId="{07A28121-13E0-4BCF-90D3-1050FFB364F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0802ff9a0eaa04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0802ff9a0eaa04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32f87b156faf913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h32f87b156faf91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Domestic - high in value</a:t>
            </a:r>
            <a:endParaRPr/>
          </a:p>
          <a:p>
            <a:pPr indent="0" lvl="0" marL="0" rtl="0" algn="l">
              <a:spcBef>
                <a:spcPts val="0"/>
              </a:spcBef>
              <a:spcAft>
                <a:spcPts val="0"/>
              </a:spcAft>
              <a:buNone/>
            </a:pPr>
            <a:r>
              <a:rPr lang="en"/>
              <a:t>Critical - hard to replace</a:t>
            </a:r>
            <a:endParaRPr/>
          </a:p>
          <a:p>
            <a:pPr indent="0" lvl="0" marL="0" rtl="0" algn="l">
              <a:spcBef>
                <a:spcPts val="0"/>
              </a:spcBef>
              <a:spcAft>
                <a:spcPts val="0"/>
              </a:spcAft>
              <a:buNone/>
            </a:pPr>
            <a:r>
              <a:rPr lang="en"/>
              <a:t>Routine - many providers</a:t>
            </a:r>
            <a:endParaRPr/>
          </a:p>
          <a:p>
            <a:pPr indent="0" lvl="0" marL="0" rtl="0" algn="l">
              <a:spcBef>
                <a:spcPts val="0"/>
              </a:spcBef>
              <a:spcAft>
                <a:spcPts val="0"/>
              </a:spcAft>
              <a:buNone/>
            </a:pPr>
            <a:r>
              <a:rPr lang="en"/>
              <a:t>Bottleneck - anternatives limited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23c2d8521a34ed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h23c2d8521a34ed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23c2d8521a34ed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h23c2d8521a34ed3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60802ff9a0eaa042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60802ff9a0eaa042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60802ff9a0eaa0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60802ff9a0eaa0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Northstar Procurement Strategy</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31523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100"/>
              <a:t>Aaron, Aryan, Jose, Toby</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Diagnosis</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4375975"/>
            <a:ext cx="8520600" cy="4977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Clr>
                <a:schemeClr val="dk1"/>
              </a:buClr>
              <a:buSzPts val="770"/>
              <a:buFont typeface="Arial"/>
              <a:buNone/>
            </a:pPr>
            <a:r>
              <a:rPr b="1" lang="en" sz="1640">
                <a:solidFill>
                  <a:schemeClr val="dk1"/>
                </a:solidFill>
                <a:latin typeface="Times New Roman"/>
                <a:ea typeface="Times New Roman"/>
                <a:cs typeface="Times New Roman"/>
                <a:sym typeface="Times New Roman"/>
              </a:rPr>
              <a:t>Two Issues we are focusing on</a:t>
            </a:r>
            <a:r>
              <a:rPr lang="en" sz="1640">
                <a:solidFill>
                  <a:schemeClr val="dk1"/>
                </a:solidFill>
                <a:latin typeface="Times New Roman"/>
                <a:ea typeface="Times New Roman"/>
                <a:cs typeface="Times New Roman"/>
                <a:sym typeface="Times New Roman"/>
              </a:rPr>
              <a:t>: Purchasing process across all plants and high carrier count </a:t>
            </a:r>
            <a:endParaRPr sz="164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1200"/>
              </a:spcAft>
              <a:buSzPts val="770"/>
              <a:buNone/>
            </a:pPr>
            <a:r>
              <a:t/>
            </a:r>
            <a:endParaRPr sz="2060"/>
          </a:p>
        </p:txBody>
      </p:sp>
      <p:sp>
        <p:nvSpPr>
          <p:cNvPr id="62" name="Google Shape;62;p14"/>
          <p:cNvSpPr txBox="1"/>
          <p:nvPr/>
        </p:nvSpPr>
        <p:spPr>
          <a:xfrm>
            <a:off x="780125" y="1072325"/>
            <a:ext cx="8052300" cy="293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Strengths</a:t>
            </a:r>
            <a:r>
              <a:rPr b="1" lang="en" sz="1300">
                <a:solidFill>
                  <a:schemeClr val="dk1"/>
                </a:solidFill>
                <a:latin typeface="Times New Roman"/>
                <a:ea typeface="Times New Roman"/>
                <a:cs typeface="Times New Roman"/>
                <a:sym typeface="Times New Roman"/>
              </a:rPr>
              <a:t> to Maximize Opportunities</a:t>
            </a:r>
            <a:r>
              <a:rPr lang="en" sz="1300">
                <a:solidFill>
                  <a:schemeClr val="dk1"/>
                </a:solidFill>
                <a:latin typeface="Times New Roman"/>
                <a:ea typeface="Times New Roman"/>
                <a:cs typeface="Times New Roman"/>
                <a:sym typeface="Times New Roman"/>
              </a:rPr>
              <a:t>: Because there is a high purchasing power/leverage, there is an opportunity to further drive down total costs through negotiating with various carriers in their network.</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Strength</a:t>
            </a:r>
            <a:r>
              <a:rPr b="1" lang="en" sz="1300">
                <a:solidFill>
                  <a:schemeClr val="dk1"/>
                </a:solidFill>
                <a:latin typeface="Times New Roman"/>
                <a:ea typeface="Times New Roman"/>
                <a:cs typeface="Times New Roman"/>
                <a:sym typeface="Times New Roman"/>
              </a:rPr>
              <a:t> to Minimize Threats</a:t>
            </a:r>
            <a:r>
              <a:rPr lang="en" sz="1300">
                <a:solidFill>
                  <a:schemeClr val="dk1"/>
                </a:solidFill>
                <a:latin typeface="Times New Roman"/>
                <a:ea typeface="Times New Roman"/>
                <a:cs typeface="Times New Roman"/>
                <a:sym typeface="Times New Roman"/>
              </a:rPr>
              <a:t>: Because they have high purchasing power, they can negotiate costs in areas that they feel they are overspending or for opportunities to save. Strong global presence can help integrate purchasing practices across plants by allowing global knowledge sharing across all international plants, clients, and carriers. </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Weakness</a:t>
            </a:r>
            <a:r>
              <a:rPr lang="en" sz="1300">
                <a:solidFill>
                  <a:schemeClr val="dk1"/>
                </a:solidFill>
                <a:latin typeface="Times New Roman"/>
                <a:ea typeface="Times New Roman"/>
                <a:cs typeface="Times New Roman"/>
                <a:sym typeface="Times New Roman"/>
              </a:rPr>
              <a:t>: The coverage % of total contracts is low so we want to reduce the risk of commercial and continuity risk by increasing this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title="download.png"/>
          <p:cNvPicPr preferRelativeResize="0"/>
          <p:nvPr/>
        </p:nvPicPr>
        <p:blipFill>
          <a:blip r:embed="rId3">
            <a:alphaModFix/>
          </a:blip>
          <a:stretch>
            <a:fillRect/>
          </a:stretch>
        </p:blipFill>
        <p:spPr>
          <a:xfrm>
            <a:off x="410150" y="0"/>
            <a:ext cx="8444876" cy="50760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9658"/>
              <a:buNone/>
            </a:pPr>
            <a:r>
              <a:rPr lang="en" sz="2600">
                <a:solidFill>
                  <a:srgbClr val="000000"/>
                </a:solidFill>
                <a:latin typeface="Times New Roman"/>
                <a:ea typeface="Times New Roman"/>
                <a:cs typeface="Times New Roman"/>
                <a:sym typeface="Times New Roman"/>
              </a:rPr>
              <a:t>Economics: Total Cost of Ownership (TCO)</a:t>
            </a:r>
            <a:endParaRPr>
              <a:latin typeface="Times New Roman"/>
              <a:ea typeface="Times New Roman"/>
              <a:cs typeface="Times New Roman"/>
              <a:sym typeface="Times New Roman"/>
            </a:endParaRPr>
          </a:p>
        </p:txBody>
      </p:sp>
      <p:sp>
        <p:nvSpPr>
          <p:cNvPr id="73" name="Google Shape;73;p16"/>
          <p:cNvSpPr/>
          <p:nvPr/>
        </p:nvSpPr>
        <p:spPr>
          <a:xfrm>
            <a:off x="457200" y="1005840"/>
            <a:ext cx="8229600" cy="292500"/>
          </a:xfrm>
          <a:prstGeom prst="rect">
            <a:avLst/>
          </a:prstGeom>
          <a:no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lang="en" sz="1300" u="none" cap="none" strike="noStrike">
                <a:solidFill>
                  <a:srgbClr val="595959"/>
                </a:solidFill>
                <a:latin typeface="Times New Roman"/>
                <a:ea typeface="Times New Roman"/>
                <a:cs typeface="Times New Roman"/>
                <a:sym typeface="Times New Roman"/>
              </a:rPr>
              <a:t>Decision rule: award on lowest total landed cost, not lowest rate.</a:t>
            </a:r>
            <a:endParaRPr>
              <a:latin typeface="Times New Roman"/>
              <a:ea typeface="Times New Roman"/>
              <a:cs typeface="Times New Roman"/>
              <a:sym typeface="Times New Roman"/>
            </a:endParaRPr>
          </a:p>
        </p:txBody>
      </p:sp>
      <p:sp>
        <p:nvSpPr>
          <p:cNvPr id="74" name="Google Shape;74;p16"/>
          <p:cNvSpPr/>
          <p:nvPr/>
        </p:nvSpPr>
        <p:spPr>
          <a:xfrm>
            <a:off x="457200" y="1371600"/>
            <a:ext cx="1920300" cy="868800"/>
          </a:xfrm>
          <a:prstGeom prst="rect">
            <a:avLst/>
          </a:prstGeom>
          <a:solidFill>
            <a:srgbClr val="F2F2F2"/>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 sz="2400" u="none" cap="none" strike="noStrike">
                <a:solidFill>
                  <a:srgbClr val="1F3864"/>
                </a:solidFill>
                <a:latin typeface="Times New Roman"/>
                <a:ea typeface="Times New Roman"/>
                <a:cs typeface="Times New Roman"/>
                <a:sym typeface="Times New Roman"/>
              </a:rPr>
              <a:t>$120M</a:t>
            </a:r>
            <a:endParaRPr>
              <a:latin typeface="Times New Roman"/>
              <a:ea typeface="Times New Roman"/>
              <a:cs typeface="Times New Roman"/>
              <a:sym typeface="Times New Roman"/>
            </a:endParaRPr>
          </a:p>
          <a:p>
            <a:pPr indent="0" lvl="0" marL="0" marR="0" rtl="0" algn="ctr">
              <a:lnSpc>
                <a:spcPct val="100000"/>
              </a:lnSpc>
              <a:spcBef>
                <a:spcPts val="300"/>
              </a:spcBef>
              <a:spcAft>
                <a:spcPts val="0"/>
              </a:spcAft>
              <a:buNone/>
            </a:pPr>
            <a:r>
              <a:rPr lang="en" sz="1050" u="none" cap="none" strike="noStrike">
                <a:solidFill>
                  <a:srgbClr val="000000"/>
                </a:solidFill>
                <a:latin typeface="Times New Roman"/>
                <a:ea typeface="Times New Roman"/>
                <a:cs typeface="Times New Roman"/>
                <a:sym typeface="Times New Roman"/>
              </a:rPr>
              <a:t>addressable annual logistics spend</a:t>
            </a:r>
            <a:endParaRPr>
              <a:latin typeface="Times New Roman"/>
              <a:ea typeface="Times New Roman"/>
              <a:cs typeface="Times New Roman"/>
              <a:sym typeface="Times New Roman"/>
            </a:endParaRPr>
          </a:p>
        </p:txBody>
      </p:sp>
      <p:sp>
        <p:nvSpPr>
          <p:cNvPr id="75" name="Google Shape;75;p16"/>
          <p:cNvSpPr/>
          <p:nvPr/>
        </p:nvSpPr>
        <p:spPr>
          <a:xfrm>
            <a:off x="2560320" y="1371600"/>
            <a:ext cx="1920300" cy="868800"/>
          </a:xfrm>
          <a:prstGeom prst="rect">
            <a:avLst/>
          </a:prstGeom>
          <a:solidFill>
            <a:srgbClr val="F2F2F2"/>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 sz="2400" u="none" cap="none" strike="noStrike">
                <a:solidFill>
                  <a:srgbClr val="1F3864"/>
                </a:solidFill>
                <a:latin typeface="Times New Roman"/>
                <a:ea typeface="Times New Roman"/>
                <a:cs typeface="Times New Roman"/>
                <a:sym typeface="Times New Roman"/>
              </a:rPr>
              <a:t>96</a:t>
            </a:r>
            <a:endParaRPr>
              <a:latin typeface="Times New Roman"/>
              <a:ea typeface="Times New Roman"/>
              <a:cs typeface="Times New Roman"/>
              <a:sym typeface="Times New Roman"/>
            </a:endParaRPr>
          </a:p>
          <a:p>
            <a:pPr indent="0" lvl="0" marL="0" marR="0" rtl="0" algn="ctr">
              <a:lnSpc>
                <a:spcPct val="100000"/>
              </a:lnSpc>
              <a:spcBef>
                <a:spcPts val="300"/>
              </a:spcBef>
              <a:spcAft>
                <a:spcPts val="0"/>
              </a:spcAft>
              <a:buNone/>
            </a:pPr>
            <a:r>
              <a:rPr lang="en" sz="1050" u="none" cap="none" strike="noStrike">
                <a:solidFill>
                  <a:srgbClr val="000000"/>
                </a:solidFill>
                <a:latin typeface="Times New Roman"/>
                <a:ea typeface="Times New Roman"/>
                <a:cs typeface="Times New Roman"/>
                <a:sym typeface="Times New Roman"/>
              </a:rPr>
              <a:t>active carriers: fragmented, little leverage</a:t>
            </a:r>
            <a:endParaRPr>
              <a:latin typeface="Times New Roman"/>
              <a:ea typeface="Times New Roman"/>
              <a:cs typeface="Times New Roman"/>
              <a:sym typeface="Times New Roman"/>
            </a:endParaRPr>
          </a:p>
        </p:txBody>
      </p:sp>
      <p:sp>
        <p:nvSpPr>
          <p:cNvPr id="76" name="Google Shape;76;p16"/>
          <p:cNvSpPr/>
          <p:nvPr/>
        </p:nvSpPr>
        <p:spPr>
          <a:xfrm>
            <a:off x="4663440" y="1371600"/>
            <a:ext cx="1920300" cy="868800"/>
          </a:xfrm>
          <a:prstGeom prst="rect">
            <a:avLst/>
          </a:prstGeom>
          <a:solidFill>
            <a:srgbClr val="F2F2F2"/>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 sz="2400" u="none" cap="none" strike="noStrike">
                <a:solidFill>
                  <a:srgbClr val="1F3864"/>
                </a:solidFill>
                <a:latin typeface="Times New Roman"/>
                <a:ea typeface="Times New Roman"/>
                <a:cs typeface="Times New Roman"/>
                <a:sym typeface="Times New Roman"/>
              </a:rPr>
              <a:t>$7.2M</a:t>
            </a:r>
            <a:endParaRPr>
              <a:latin typeface="Times New Roman"/>
              <a:ea typeface="Times New Roman"/>
              <a:cs typeface="Times New Roman"/>
              <a:sym typeface="Times New Roman"/>
            </a:endParaRPr>
          </a:p>
          <a:p>
            <a:pPr indent="0" lvl="0" marL="0" marR="0" rtl="0" algn="ctr">
              <a:lnSpc>
                <a:spcPct val="100000"/>
              </a:lnSpc>
              <a:spcBef>
                <a:spcPts val="300"/>
              </a:spcBef>
              <a:spcAft>
                <a:spcPts val="0"/>
              </a:spcAft>
              <a:buNone/>
            </a:pPr>
            <a:r>
              <a:rPr lang="en" sz="1050" u="none" cap="none" strike="noStrike">
                <a:solidFill>
                  <a:srgbClr val="000000"/>
                </a:solidFill>
                <a:latin typeface="Times New Roman"/>
                <a:ea typeface="Times New Roman"/>
                <a:cs typeface="Times New Roman"/>
                <a:sym typeface="Times New Roman"/>
              </a:rPr>
              <a:t>expedite/accessorial cost = 6% of spend</a:t>
            </a:r>
            <a:endParaRPr>
              <a:latin typeface="Times New Roman"/>
              <a:ea typeface="Times New Roman"/>
              <a:cs typeface="Times New Roman"/>
              <a:sym typeface="Times New Roman"/>
            </a:endParaRPr>
          </a:p>
        </p:txBody>
      </p:sp>
      <p:sp>
        <p:nvSpPr>
          <p:cNvPr id="77" name="Google Shape;77;p16"/>
          <p:cNvSpPr/>
          <p:nvPr/>
        </p:nvSpPr>
        <p:spPr>
          <a:xfrm>
            <a:off x="6766559" y="1371600"/>
            <a:ext cx="1920300" cy="868800"/>
          </a:xfrm>
          <a:prstGeom prst="rect">
            <a:avLst/>
          </a:prstGeom>
          <a:solidFill>
            <a:srgbClr val="F2F2F2"/>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 sz="2400" u="none" cap="none" strike="noStrike">
                <a:solidFill>
                  <a:srgbClr val="1F3864"/>
                </a:solidFill>
                <a:latin typeface="Times New Roman"/>
                <a:ea typeface="Times New Roman"/>
                <a:cs typeface="Times New Roman"/>
                <a:sym typeface="Times New Roman"/>
              </a:rPr>
              <a:t>91%</a:t>
            </a:r>
            <a:endParaRPr>
              <a:latin typeface="Times New Roman"/>
              <a:ea typeface="Times New Roman"/>
              <a:cs typeface="Times New Roman"/>
              <a:sym typeface="Times New Roman"/>
            </a:endParaRPr>
          </a:p>
          <a:p>
            <a:pPr indent="0" lvl="0" marL="0" marR="0" rtl="0" algn="ctr">
              <a:lnSpc>
                <a:spcPct val="100000"/>
              </a:lnSpc>
              <a:spcBef>
                <a:spcPts val="300"/>
              </a:spcBef>
              <a:spcAft>
                <a:spcPts val="0"/>
              </a:spcAft>
              <a:buNone/>
            </a:pPr>
            <a:r>
              <a:rPr lang="en" sz="1050" u="none" cap="none" strike="noStrike">
                <a:solidFill>
                  <a:srgbClr val="000000"/>
                </a:solidFill>
                <a:latin typeface="Times New Roman"/>
                <a:ea typeface="Times New Roman"/>
                <a:cs typeface="Times New Roman"/>
                <a:sym typeface="Times New Roman"/>
              </a:rPr>
              <a:t>OTIF; contract coverage only 58%</a:t>
            </a:r>
            <a:endParaRPr>
              <a:latin typeface="Times New Roman"/>
              <a:ea typeface="Times New Roman"/>
              <a:cs typeface="Times New Roman"/>
              <a:sym typeface="Times New Roman"/>
            </a:endParaRPr>
          </a:p>
        </p:txBody>
      </p:sp>
      <p:sp>
        <p:nvSpPr>
          <p:cNvPr id="78" name="Google Shape;78;p16"/>
          <p:cNvSpPr/>
          <p:nvPr/>
        </p:nvSpPr>
        <p:spPr>
          <a:xfrm>
            <a:off x="5212080" y="2423160"/>
            <a:ext cx="3474600" cy="329100"/>
          </a:xfrm>
          <a:prstGeom prst="rect">
            <a:avLst/>
          </a:prstGeom>
          <a:solidFill>
            <a:srgbClr val="1F3864"/>
          </a:solidFill>
          <a:ln>
            <a:noFill/>
          </a:ln>
        </p:spPr>
        <p:txBody>
          <a:bodyPr anchorCtr="0" anchor="ctr" bIns="36575" lIns="73150" spcFirstLastPara="1" rIns="73150" wrap="square" tIns="36575">
            <a:noAutofit/>
          </a:bodyPr>
          <a:lstStyle/>
          <a:p>
            <a:pPr indent="0" lvl="0" marL="0" marR="0" rtl="0" algn="l">
              <a:lnSpc>
                <a:spcPct val="100000"/>
              </a:lnSpc>
              <a:spcBef>
                <a:spcPts val="0"/>
              </a:spcBef>
              <a:spcAft>
                <a:spcPts val="0"/>
              </a:spcAft>
              <a:buNone/>
            </a:pPr>
            <a:r>
              <a:rPr b="1" lang="en" sz="1200" u="none" cap="none" strike="noStrike">
                <a:solidFill>
                  <a:srgbClr val="FFFFFF"/>
                </a:solidFill>
                <a:latin typeface="Times New Roman"/>
                <a:ea typeface="Times New Roman"/>
                <a:cs typeface="Times New Roman"/>
                <a:sym typeface="Times New Roman"/>
              </a:rPr>
              <a:t>Why the lowest rate can cost more</a:t>
            </a:r>
            <a:endParaRPr>
              <a:latin typeface="Times New Roman"/>
              <a:ea typeface="Times New Roman"/>
              <a:cs typeface="Times New Roman"/>
              <a:sym typeface="Times New Roman"/>
            </a:endParaRPr>
          </a:p>
        </p:txBody>
      </p:sp>
      <p:sp>
        <p:nvSpPr>
          <p:cNvPr id="79" name="Google Shape;79;p16"/>
          <p:cNvSpPr/>
          <p:nvPr/>
        </p:nvSpPr>
        <p:spPr>
          <a:xfrm>
            <a:off x="5212080" y="2752344"/>
            <a:ext cx="3474600" cy="1316700"/>
          </a:xfrm>
          <a:prstGeom prst="rect">
            <a:avLst/>
          </a:prstGeom>
          <a:noFill/>
          <a:ln cap="flat" cmpd="sng" w="9525">
            <a:solidFill>
              <a:srgbClr val="BFBFBF"/>
            </a:solidFill>
            <a:prstDash val="solid"/>
            <a:round/>
            <a:headEnd len="sm" w="sm" type="none"/>
            <a:tailEnd len="sm" w="sm" type="none"/>
          </a:ln>
        </p:spPr>
        <p:txBody>
          <a:bodyPr anchorCtr="0" anchor="t" bIns="36575" lIns="73150" spcFirstLastPara="1" rIns="73150" wrap="square" tIns="36575">
            <a:noAutofit/>
          </a:bodyPr>
          <a:lstStyle/>
          <a:p>
            <a:pPr indent="0" lvl="0" marL="0" marR="0" rtl="0" algn="l">
              <a:lnSpc>
                <a:spcPct val="100000"/>
              </a:lnSpc>
              <a:spcBef>
                <a:spcPts val="0"/>
              </a:spcBef>
              <a:spcAft>
                <a:spcPts val="0"/>
              </a:spcAft>
              <a:buNone/>
            </a:pPr>
            <a:r>
              <a:rPr lang="en" sz="1100" u="none" cap="none" strike="noStrike">
                <a:solidFill>
                  <a:srgbClr val="000000"/>
                </a:solidFill>
                <a:latin typeface="Times New Roman"/>
                <a:ea typeface="Times New Roman"/>
                <a:cs typeface="Times New Roman"/>
                <a:sym typeface="Times New Roman"/>
              </a:rPr>
              <a:t>A 3% rate cut on $120M saves </a:t>
            </a:r>
            <a:r>
              <a:rPr b="1" lang="en" sz="1100" u="none" cap="none" strike="noStrike">
                <a:solidFill>
                  <a:srgbClr val="000000"/>
                </a:solidFill>
                <a:latin typeface="Times New Roman"/>
                <a:ea typeface="Times New Roman"/>
                <a:cs typeface="Times New Roman"/>
                <a:sym typeface="Times New Roman"/>
              </a:rPr>
              <a:t>$3.6M.</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lang="en" sz="1100" u="none" cap="none" strike="noStrike">
                <a:solidFill>
                  <a:srgbClr val="000000"/>
                </a:solidFill>
                <a:latin typeface="Times New Roman"/>
                <a:ea typeface="Times New Roman"/>
                <a:cs typeface="Times New Roman"/>
                <a:sym typeface="Times New Roman"/>
              </a:rPr>
              <a:t>Baseline: $7.2M of expedite/accessorial cost at 91% OTIF (9 missed points) is about </a:t>
            </a:r>
            <a:r>
              <a:rPr b="1" lang="en" sz="1100" u="none" cap="none" strike="noStrike">
                <a:solidFill>
                  <a:srgbClr val="000000"/>
                </a:solidFill>
                <a:latin typeface="Times New Roman"/>
                <a:ea typeface="Times New Roman"/>
                <a:cs typeface="Times New Roman"/>
                <a:sym typeface="Times New Roman"/>
              </a:rPr>
              <a:t>$0.8M per OTIF point.</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lang="en" sz="1100" u="none" cap="none" strike="noStrike">
                <a:solidFill>
                  <a:srgbClr val="000000"/>
                </a:solidFill>
                <a:latin typeface="Times New Roman"/>
                <a:ea typeface="Times New Roman"/>
                <a:cs typeface="Times New Roman"/>
                <a:sym typeface="Times New Roman"/>
              </a:rPr>
              <a:t>A cheaper carrier that costs 5 OTIF points adds about $4.0M, a </a:t>
            </a:r>
            <a:r>
              <a:rPr b="1" lang="en" sz="1100" u="none" cap="none" strike="noStrike">
                <a:solidFill>
                  <a:srgbClr val="C0392B"/>
                </a:solidFill>
                <a:latin typeface="Times New Roman"/>
                <a:ea typeface="Times New Roman"/>
                <a:cs typeface="Times New Roman"/>
                <a:sym typeface="Times New Roman"/>
              </a:rPr>
              <a:t>net loss of ~$0.4M.</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t/>
            </a:r>
            <a:endParaRPr>
              <a:latin typeface="Times New Roman"/>
              <a:ea typeface="Times New Roman"/>
              <a:cs typeface="Times New Roman"/>
              <a:sym typeface="Times New Roman"/>
            </a:endParaRPr>
          </a:p>
        </p:txBody>
      </p:sp>
      <p:graphicFrame>
        <p:nvGraphicFramePr>
          <p:cNvPr id="80" name="Google Shape;80;p16"/>
          <p:cNvGraphicFramePr/>
          <p:nvPr/>
        </p:nvGraphicFramePr>
        <p:xfrm>
          <a:off x="705650" y="2423150"/>
          <a:ext cx="3000000" cy="3000000"/>
        </p:xfrm>
        <a:graphic>
          <a:graphicData uri="http://schemas.openxmlformats.org/drawingml/2006/table">
            <a:tbl>
              <a:tblPr>
                <a:noFill/>
                <a:tableStyleId>{07A28121-13E0-4BCF-90D3-1050FFB364F7}</a:tableStyleId>
              </a:tblPr>
              <a:tblGrid>
                <a:gridCol w="1465250"/>
                <a:gridCol w="1465250"/>
                <a:gridCol w="1465250"/>
              </a:tblGrid>
              <a:tr h="381000">
                <a:tc>
                  <a:txBody>
                    <a:bodyPr/>
                    <a:lstStyle/>
                    <a:p>
                      <a:pPr indent="0" lvl="0" marL="0" rtl="0" algn="l">
                        <a:spcBef>
                          <a:spcPts val="0"/>
                        </a:spcBef>
                        <a:spcAft>
                          <a:spcPts val="0"/>
                        </a:spcAft>
                        <a:buClr>
                          <a:schemeClr val="dk1"/>
                        </a:buClr>
                        <a:buFont typeface="Arial"/>
                        <a:buNone/>
                      </a:pPr>
                      <a:r>
                        <a:rPr b="1" lang="en" sz="1100">
                          <a:solidFill>
                            <a:schemeClr val="lt1"/>
                          </a:solidFill>
                          <a:latin typeface="Times New Roman"/>
                          <a:ea typeface="Times New Roman"/>
                          <a:cs typeface="Times New Roman"/>
                          <a:sym typeface="Times New Roman"/>
                        </a:rPr>
                        <a:t>Pre-transaction</a:t>
                      </a:r>
                      <a:endParaRPr/>
                    </a:p>
                  </a:txBody>
                  <a:tcPr marT="91425" marB="91425" marR="91425" marL="91425">
                    <a:solidFill>
                      <a:srgbClr val="1F3864"/>
                    </a:solidFill>
                  </a:tcPr>
                </a:tc>
                <a:tc>
                  <a:txBody>
                    <a:bodyPr/>
                    <a:lstStyle/>
                    <a:p>
                      <a:pPr indent="0" lvl="0" marL="0" rtl="0" algn="l">
                        <a:spcBef>
                          <a:spcPts val="0"/>
                        </a:spcBef>
                        <a:spcAft>
                          <a:spcPts val="0"/>
                        </a:spcAft>
                        <a:buClr>
                          <a:schemeClr val="dk1"/>
                        </a:buClr>
                        <a:buFont typeface="Arial"/>
                        <a:buNone/>
                      </a:pPr>
                      <a:r>
                        <a:rPr b="1" lang="en" sz="1100">
                          <a:solidFill>
                            <a:schemeClr val="lt1"/>
                          </a:solidFill>
                          <a:latin typeface="Times New Roman"/>
                          <a:ea typeface="Times New Roman"/>
                          <a:cs typeface="Times New Roman"/>
                          <a:sym typeface="Times New Roman"/>
                        </a:rPr>
                        <a:t>Transaction</a:t>
                      </a:r>
                      <a:endParaRPr/>
                    </a:p>
                  </a:txBody>
                  <a:tcPr marT="91425" marB="91425" marR="91425" marL="91425">
                    <a:solidFill>
                      <a:srgbClr val="1F3864"/>
                    </a:solidFill>
                  </a:tcPr>
                </a:tc>
                <a:tc>
                  <a:txBody>
                    <a:bodyPr/>
                    <a:lstStyle/>
                    <a:p>
                      <a:pPr indent="0" lvl="0" marL="0" rtl="0" algn="l">
                        <a:spcBef>
                          <a:spcPts val="0"/>
                        </a:spcBef>
                        <a:spcAft>
                          <a:spcPts val="0"/>
                        </a:spcAft>
                        <a:buClr>
                          <a:schemeClr val="dk1"/>
                        </a:buClr>
                        <a:buFont typeface="Arial"/>
                        <a:buNone/>
                      </a:pPr>
                      <a:r>
                        <a:rPr b="1" lang="en" sz="1100">
                          <a:solidFill>
                            <a:schemeClr val="lt1"/>
                          </a:solidFill>
                          <a:latin typeface="Times New Roman"/>
                          <a:ea typeface="Times New Roman"/>
                          <a:cs typeface="Times New Roman"/>
                          <a:sym typeface="Times New Roman"/>
                        </a:rPr>
                        <a:t>Post-transaction</a:t>
                      </a:r>
                      <a:endParaRPr>
                        <a:solidFill>
                          <a:schemeClr val="dk1"/>
                        </a:solidFill>
                      </a:endParaRPr>
                    </a:p>
                    <a:p>
                      <a:pPr indent="0" lvl="0" marL="0" rtl="0" algn="l">
                        <a:spcBef>
                          <a:spcPts val="0"/>
                        </a:spcBef>
                        <a:spcAft>
                          <a:spcPts val="0"/>
                        </a:spcAft>
                        <a:buNone/>
                      </a:pPr>
                      <a:r>
                        <a:t/>
                      </a:r>
                      <a:endParaRPr/>
                    </a:p>
                  </a:txBody>
                  <a:tcPr marT="91425" marB="91425" marR="91425" marL="91425">
                    <a:solidFill>
                      <a:srgbClr val="1F3864"/>
                    </a:solidFill>
                  </a:tcPr>
                </a:tc>
              </a:tr>
              <a:tr h="406075">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Data cleaning</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1" i="0" lang="en" sz="1050" u="none" cap="none" strike="noStrike">
                          <a:solidFill>
                            <a:srgbClr val="000000"/>
                          </a:solidFill>
                          <a:latin typeface="Times New Roman"/>
                          <a:ea typeface="Times New Roman"/>
                          <a:cs typeface="Times New Roman"/>
                          <a:sym typeface="Times New Roman"/>
                        </a:rPr>
                        <a:t>Base rate</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Late-delivery impact</a:t>
                      </a:r>
                      <a:endParaRPr/>
                    </a:p>
                  </a:txBody>
                  <a:tcPr marT="18300" marB="18300" marR="64000" marL="64000" anchor="ctr">
                    <a:solidFill>
                      <a:srgbClr val="FFFFFF"/>
                    </a:solidFill>
                  </a:tcPr>
                </a:tc>
              </a:tr>
              <a:tr h="381000">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RFI / qualification</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1" i="0" lang="en" sz="1050" u="none" cap="none" strike="noStrike">
                          <a:solidFill>
                            <a:srgbClr val="000000"/>
                          </a:solidFill>
                          <a:latin typeface="Times New Roman"/>
                          <a:ea typeface="Times New Roman"/>
                          <a:cs typeface="Times New Roman"/>
                          <a:sym typeface="Times New Roman"/>
                        </a:rPr>
                        <a:t>Fuel</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Damage / claims</a:t>
                      </a:r>
                      <a:endParaRPr/>
                    </a:p>
                  </a:txBody>
                  <a:tcPr marT="18300" marB="18300" marR="64000" marL="64000" anchor="ctr">
                    <a:solidFill>
                      <a:srgbClr val="FFFFFF"/>
                    </a:solidFill>
                  </a:tcPr>
                </a:tc>
              </a:tr>
              <a:tr h="381000">
                <a:tc>
                  <a:txBody>
                    <a:bodyPr/>
                    <a:lstStyle/>
                    <a:p>
                      <a:pPr indent="0" lvl="0" marL="0" marR="0" rtl="0" algn="l">
                        <a:lnSpc>
                          <a:spcPct val="100000"/>
                        </a:lnSpc>
                        <a:spcBef>
                          <a:spcPts val="0"/>
                        </a:spcBef>
                        <a:spcAft>
                          <a:spcPts val="0"/>
                        </a:spcAft>
                        <a:buNone/>
                      </a:pPr>
                      <a:r>
                        <a:rPr b="1" i="0" lang="en" sz="1050" u="none" cap="none" strike="noStrike">
                          <a:solidFill>
                            <a:srgbClr val="000000"/>
                          </a:solidFill>
                          <a:latin typeface="Times New Roman"/>
                          <a:ea typeface="Times New Roman"/>
                          <a:cs typeface="Times New Roman"/>
                          <a:sym typeface="Times New Roman"/>
                        </a:rPr>
                        <a:t>Contracting</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Accessorials</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1" i="0" lang="en" sz="1050" u="none" cap="none" strike="noStrike">
                          <a:solidFill>
                            <a:srgbClr val="000000"/>
                          </a:solidFill>
                          <a:latin typeface="Times New Roman"/>
                          <a:ea typeface="Times New Roman"/>
                          <a:cs typeface="Times New Roman"/>
                          <a:sym typeface="Times New Roman"/>
                        </a:rPr>
                        <a:t>Expediting</a:t>
                      </a:r>
                      <a:endParaRPr/>
                    </a:p>
                  </a:txBody>
                  <a:tcPr marT="18300" marB="18300" marR="64000" marL="64000" anchor="ctr">
                    <a:solidFill>
                      <a:srgbClr val="FFFFFF"/>
                    </a:solidFill>
                  </a:tcPr>
                </a:tc>
              </a:tr>
              <a:tr h="381000">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Systems onboarding</a:t>
                      </a:r>
                      <a:endParaRPr b="1" i="0" sz="1050" u="none" cap="none" strike="noStrike">
                        <a:solidFill>
                          <a:srgbClr val="000000"/>
                        </a:solidFill>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1" i="0" lang="en" sz="1050" u="none" cap="none" strike="noStrike">
                          <a:solidFill>
                            <a:srgbClr val="000000"/>
                          </a:solidFill>
                          <a:latin typeface="Times New Roman"/>
                          <a:ea typeface="Times New Roman"/>
                          <a:cs typeface="Times New Roman"/>
                          <a:sym typeface="Times New Roman"/>
                        </a:rPr>
                        <a:t>Duties / brokerage</a:t>
                      </a:r>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b="0" i="0" lang="en" sz="1050" u="none" cap="none" strike="noStrike">
                          <a:solidFill>
                            <a:srgbClr val="000000"/>
                          </a:solidFill>
                          <a:latin typeface="Times New Roman"/>
                          <a:ea typeface="Times New Roman"/>
                          <a:cs typeface="Times New Roman"/>
                          <a:sym typeface="Times New Roman"/>
                        </a:rPr>
                        <a:t>Management time</a:t>
                      </a:r>
                      <a:endParaRPr/>
                    </a:p>
                  </a:txBody>
                  <a:tcPr marT="18300" marB="18300" marR="64000" marL="6400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262350" y="198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07692"/>
              <a:buNone/>
            </a:pPr>
            <a:r>
              <a:rPr lang="en" sz="2600">
                <a:solidFill>
                  <a:srgbClr val="000000"/>
                </a:solidFill>
                <a:latin typeface="Times New Roman"/>
                <a:ea typeface="Times New Roman"/>
                <a:cs typeface="Times New Roman"/>
                <a:sym typeface="Times New Roman"/>
              </a:rPr>
              <a:t>Economics: Scorecard and Savings Case</a:t>
            </a:r>
            <a:endParaRPr>
              <a:latin typeface="Times New Roman"/>
              <a:ea typeface="Times New Roman"/>
              <a:cs typeface="Times New Roman"/>
              <a:sym typeface="Times New Roman"/>
            </a:endParaRPr>
          </a:p>
        </p:txBody>
      </p:sp>
      <p:sp>
        <p:nvSpPr>
          <p:cNvPr id="86" name="Google Shape;86;p17"/>
          <p:cNvSpPr/>
          <p:nvPr/>
        </p:nvSpPr>
        <p:spPr>
          <a:xfrm>
            <a:off x="457200" y="3793648"/>
            <a:ext cx="5029200" cy="822900"/>
          </a:xfrm>
          <a:prstGeom prst="rect">
            <a:avLst/>
          </a:prstGeom>
          <a:solidFill>
            <a:srgbClr val="F2F2F2"/>
          </a:solidFill>
          <a:ln>
            <a:noFill/>
          </a:ln>
        </p:spPr>
        <p:txBody>
          <a:bodyPr anchorCtr="0" anchor="ctr" bIns="36575" lIns="73150" spcFirstLastPara="1" rIns="73150" wrap="square" tIns="36575">
            <a:noAutofit/>
          </a:bodyPr>
          <a:lstStyle/>
          <a:p>
            <a:pPr indent="0" lvl="0" marL="0" marR="0" rtl="0" algn="l">
              <a:lnSpc>
                <a:spcPct val="100000"/>
              </a:lnSpc>
              <a:spcBef>
                <a:spcPts val="0"/>
              </a:spcBef>
              <a:spcAft>
                <a:spcPts val="0"/>
              </a:spcAft>
              <a:buNone/>
            </a:pPr>
            <a:r>
              <a:rPr b="1" lang="en" sz="1050" u="none" cap="none" strike="noStrike">
                <a:solidFill>
                  <a:srgbClr val="1F3864"/>
                </a:solidFill>
                <a:latin typeface="Times New Roman"/>
                <a:ea typeface="Times New Roman"/>
                <a:cs typeface="Times New Roman"/>
                <a:sym typeface="Times New Roman"/>
              </a:rPr>
              <a:t>Pass/fail gates: </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lang="en" sz="1050" u="none" cap="none" strike="noStrike">
                <a:solidFill>
                  <a:srgbClr val="000000"/>
                </a:solidFill>
                <a:latin typeface="Times New Roman"/>
                <a:ea typeface="Times New Roman"/>
                <a:cs typeface="Times New Roman"/>
                <a:sym typeface="Times New Roman"/>
              </a:rPr>
              <a:t>Incoterm-compliant bids in standard units and currency  |  valid insurance and regulatory compliance  |  EDI/tracking connectivity  |  OTIF at or above the 91% baseline</a:t>
            </a:r>
            <a:endParaRPr>
              <a:latin typeface="Times New Roman"/>
              <a:ea typeface="Times New Roman"/>
              <a:cs typeface="Times New Roman"/>
              <a:sym typeface="Times New Roman"/>
            </a:endParaRPr>
          </a:p>
        </p:txBody>
      </p:sp>
      <p:sp>
        <p:nvSpPr>
          <p:cNvPr id="87" name="Google Shape;87;p17"/>
          <p:cNvSpPr/>
          <p:nvPr/>
        </p:nvSpPr>
        <p:spPr>
          <a:xfrm>
            <a:off x="5669280" y="1051560"/>
            <a:ext cx="3017400" cy="301800"/>
          </a:xfrm>
          <a:prstGeom prst="rect">
            <a:avLst/>
          </a:prstGeom>
          <a:solidFill>
            <a:srgbClr val="1F3864"/>
          </a:solidFill>
          <a:ln>
            <a:noFill/>
          </a:ln>
        </p:spPr>
        <p:txBody>
          <a:bodyPr anchorCtr="0" anchor="ctr" bIns="36575" lIns="73150" spcFirstLastPara="1" rIns="73150" wrap="square" tIns="36575">
            <a:noAutofit/>
          </a:bodyPr>
          <a:lstStyle/>
          <a:p>
            <a:pPr indent="0" lvl="0" marL="0" marR="0" rtl="0" algn="l">
              <a:lnSpc>
                <a:spcPct val="100000"/>
              </a:lnSpc>
              <a:spcBef>
                <a:spcPts val="0"/>
              </a:spcBef>
              <a:spcAft>
                <a:spcPts val="0"/>
              </a:spcAft>
              <a:buNone/>
            </a:pPr>
            <a:r>
              <a:rPr b="1" lang="en" sz="1200" u="none" cap="none" strike="noStrike">
                <a:solidFill>
                  <a:srgbClr val="FFFFFF"/>
                </a:solidFill>
                <a:latin typeface="Times New Roman"/>
                <a:ea typeface="Times New Roman"/>
                <a:cs typeface="Times New Roman"/>
                <a:sym typeface="Times New Roman"/>
              </a:rPr>
              <a:t>Annual savings </a:t>
            </a:r>
            <a:endParaRPr>
              <a:latin typeface="Times New Roman"/>
              <a:ea typeface="Times New Roman"/>
              <a:cs typeface="Times New Roman"/>
              <a:sym typeface="Times New Roman"/>
            </a:endParaRPr>
          </a:p>
        </p:txBody>
      </p:sp>
      <p:sp>
        <p:nvSpPr>
          <p:cNvPr id="88" name="Google Shape;88;p17"/>
          <p:cNvSpPr/>
          <p:nvPr/>
        </p:nvSpPr>
        <p:spPr>
          <a:xfrm>
            <a:off x="5669280" y="1353312"/>
            <a:ext cx="3017400" cy="3035700"/>
          </a:xfrm>
          <a:prstGeom prst="rect">
            <a:avLst/>
          </a:prstGeom>
          <a:noFill/>
          <a:ln cap="flat" cmpd="sng" w="9525">
            <a:solidFill>
              <a:srgbClr val="BFBFBF"/>
            </a:solidFill>
            <a:prstDash val="solid"/>
            <a:round/>
            <a:headEnd len="sm" w="sm" type="none"/>
            <a:tailEnd len="sm" w="sm" type="none"/>
          </a:ln>
        </p:spPr>
        <p:txBody>
          <a:bodyPr anchorCtr="0" anchor="ctr" bIns="36575" lIns="109725" spcFirstLastPara="1" rIns="109725" wrap="square" tIns="36575">
            <a:noAutofit/>
          </a:bodyPr>
          <a:lstStyle/>
          <a:p>
            <a:pPr indent="0" lvl="0" marL="0" marR="0" rtl="0" algn="l">
              <a:lnSpc>
                <a:spcPct val="100000"/>
              </a:lnSpc>
              <a:spcBef>
                <a:spcPts val="0"/>
              </a:spcBef>
              <a:spcAft>
                <a:spcPts val="0"/>
              </a:spcAft>
              <a:buNone/>
            </a:pPr>
            <a:r>
              <a:rPr b="1" lang="en" sz="1200" u="none" cap="none" strike="noStrike">
                <a:solidFill>
                  <a:srgbClr val="000000"/>
                </a:solidFill>
                <a:latin typeface="Times New Roman"/>
                <a:ea typeface="Times New Roman"/>
                <a:cs typeface="Times New Roman"/>
                <a:sym typeface="Times New Roman"/>
              </a:rPr>
              <a:t>Rate leverage from consolidation</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lang="en" sz="1200" u="none" cap="none" strike="noStrike">
                <a:solidFill>
                  <a:srgbClr val="000000"/>
                </a:solidFill>
                <a:latin typeface="Times New Roman"/>
                <a:ea typeface="Times New Roman"/>
                <a:cs typeface="Times New Roman"/>
                <a:sym typeface="Times New Roman"/>
              </a:rPr>
              <a:t>3-5% of $120M = $3.6-6.0M</a:t>
            </a:r>
            <a:endParaRPr>
              <a:latin typeface="Times New Roman"/>
              <a:ea typeface="Times New Roman"/>
              <a:cs typeface="Times New Roman"/>
              <a:sym typeface="Times New Roman"/>
            </a:endParaRPr>
          </a:p>
          <a:p>
            <a:pPr indent="0" lvl="0" marL="0" marR="0" rtl="0" algn="l">
              <a:lnSpc>
                <a:spcPct val="100000"/>
              </a:lnSpc>
              <a:spcBef>
                <a:spcPts val="1500"/>
              </a:spcBef>
              <a:spcAft>
                <a:spcPts val="0"/>
              </a:spcAft>
              <a:buNone/>
            </a:pPr>
            <a:r>
              <a:rPr b="1" lang="en" sz="1200" u="none" cap="none" strike="noStrike">
                <a:solidFill>
                  <a:srgbClr val="000000"/>
                </a:solidFill>
                <a:latin typeface="Times New Roman"/>
                <a:ea typeface="Times New Roman"/>
                <a:cs typeface="Times New Roman"/>
                <a:sym typeface="Times New Roman"/>
              </a:rPr>
              <a:t>Fewer expedites/accessorials</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lang="en" sz="1200" u="none" cap="none" strike="noStrike">
                <a:solidFill>
                  <a:srgbClr val="000000"/>
                </a:solidFill>
                <a:latin typeface="Times New Roman"/>
                <a:ea typeface="Times New Roman"/>
                <a:cs typeface="Times New Roman"/>
                <a:sym typeface="Times New Roman"/>
              </a:rPr>
              <a:t>25-35% of $7.2M = $1.8-2.5M</a:t>
            </a:r>
            <a:endParaRPr>
              <a:latin typeface="Times New Roman"/>
              <a:ea typeface="Times New Roman"/>
              <a:cs typeface="Times New Roman"/>
              <a:sym typeface="Times New Roman"/>
            </a:endParaRPr>
          </a:p>
          <a:p>
            <a:pPr indent="0" lvl="0" marL="0" marR="0" rtl="0" algn="l">
              <a:lnSpc>
                <a:spcPct val="100000"/>
              </a:lnSpc>
              <a:spcBef>
                <a:spcPts val="1500"/>
              </a:spcBef>
              <a:spcAft>
                <a:spcPts val="0"/>
              </a:spcAft>
              <a:buNone/>
            </a:pPr>
            <a:r>
              <a:rPr b="1" lang="en" sz="1200" u="none" cap="none" strike="noStrike">
                <a:solidFill>
                  <a:srgbClr val="1F3864"/>
                </a:solidFill>
                <a:latin typeface="Times New Roman"/>
                <a:ea typeface="Times New Roman"/>
                <a:cs typeface="Times New Roman"/>
                <a:sym typeface="Times New Roman"/>
              </a:rPr>
              <a:t>Gross savings</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b="1" lang="en" sz="1200" u="none" cap="none" strike="noStrike">
                <a:solidFill>
                  <a:srgbClr val="1F3864"/>
                </a:solidFill>
                <a:latin typeface="Times New Roman"/>
                <a:ea typeface="Times New Roman"/>
                <a:cs typeface="Times New Roman"/>
                <a:sym typeface="Times New Roman"/>
              </a:rPr>
              <a:t>about $5.4-8.5M per year (4.5-7.1% of spend)</a:t>
            </a:r>
            <a:endParaRPr>
              <a:latin typeface="Times New Roman"/>
              <a:ea typeface="Times New Roman"/>
              <a:cs typeface="Times New Roman"/>
              <a:sym typeface="Times New Roman"/>
            </a:endParaRPr>
          </a:p>
          <a:p>
            <a:pPr indent="0" lvl="0" marL="0" marR="0" rtl="0" algn="l">
              <a:lnSpc>
                <a:spcPct val="100000"/>
              </a:lnSpc>
              <a:spcBef>
                <a:spcPts val="1500"/>
              </a:spcBef>
              <a:spcAft>
                <a:spcPts val="0"/>
              </a:spcAft>
              <a:buNone/>
            </a:pPr>
            <a:r>
              <a:rPr b="1" lang="en" sz="1200" u="none" cap="none" strike="noStrike">
                <a:solidFill>
                  <a:srgbClr val="000000"/>
                </a:solidFill>
                <a:latin typeface="Times New Roman"/>
                <a:ea typeface="Times New Roman"/>
                <a:cs typeface="Times New Roman"/>
                <a:sym typeface="Times New Roman"/>
              </a:rPr>
              <a:t>Offsets</a:t>
            </a:r>
            <a:endParaRPr>
              <a:latin typeface="Times New Roman"/>
              <a:ea typeface="Times New Roman"/>
              <a:cs typeface="Times New Roman"/>
              <a:sym typeface="Times New Roman"/>
            </a:endParaRPr>
          </a:p>
          <a:p>
            <a:pPr indent="0" lvl="0" marL="0" marR="0" rtl="0" algn="l">
              <a:lnSpc>
                <a:spcPct val="100000"/>
              </a:lnSpc>
              <a:spcBef>
                <a:spcPts val="300"/>
              </a:spcBef>
              <a:spcAft>
                <a:spcPts val="0"/>
              </a:spcAft>
              <a:buNone/>
            </a:pPr>
            <a:r>
              <a:rPr lang="en" sz="1100" u="none" cap="none" strike="noStrike">
                <a:solidFill>
                  <a:srgbClr val="000000"/>
                </a:solidFill>
                <a:latin typeface="Times New Roman"/>
                <a:ea typeface="Times New Roman"/>
                <a:cs typeface="Times New Roman"/>
                <a:sym typeface="Times New Roman"/>
              </a:rPr>
              <a:t>One-time TMS and carrier-transition costs, to be sized; we require payback within 18 months.</a:t>
            </a:r>
            <a:endParaRPr>
              <a:latin typeface="Times New Roman"/>
              <a:ea typeface="Times New Roman"/>
              <a:cs typeface="Times New Roman"/>
              <a:sym typeface="Times New Roman"/>
            </a:endParaRPr>
          </a:p>
        </p:txBody>
      </p:sp>
      <p:sp>
        <p:nvSpPr>
          <p:cNvPr id="89" name="Google Shape;89;p17"/>
          <p:cNvSpPr/>
          <p:nvPr/>
        </p:nvSpPr>
        <p:spPr>
          <a:xfrm>
            <a:off x="407850" y="4686310"/>
            <a:ext cx="8229600" cy="457200"/>
          </a:xfrm>
          <a:prstGeom prst="rect">
            <a:avLst/>
          </a:prstGeom>
          <a:noFill/>
          <a:ln>
            <a:noFill/>
          </a:ln>
        </p:spPr>
        <p:txBody>
          <a:bodyPr anchorCtr="0" anchor="ctr" bIns="36575" lIns="18275" spcFirstLastPara="1" rIns="18275" wrap="square" tIns="36575">
            <a:noAutofit/>
          </a:bodyPr>
          <a:lstStyle/>
          <a:p>
            <a:pPr indent="0" lvl="0" marL="0" marR="0" rtl="0" algn="l">
              <a:lnSpc>
                <a:spcPct val="100000"/>
              </a:lnSpc>
              <a:spcBef>
                <a:spcPts val="0"/>
              </a:spcBef>
              <a:spcAft>
                <a:spcPts val="0"/>
              </a:spcAft>
              <a:buNone/>
            </a:pPr>
            <a:r>
              <a:rPr b="1" lang="en" sz="1050" u="none" cap="none" strike="noStrike">
                <a:solidFill>
                  <a:srgbClr val="1F3864"/>
                </a:solidFill>
                <a:latin typeface="Times New Roman"/>
                <a:ea typeface="Times New Roman"/>
                <a:cs typeface="Times New Roman"/>
                <a:sym typeface="Times New Roman"/>
              </a:rPr>
              <a:t>Why these weights: </a:t>
            </a:r>
            <a:r>
              <a:rPr lang="en" sz="1050" u="none" cap="none" strike="noStrike">
                <a:solidFill>
                  <a:srgbClr val="000000"/>
                </a:solidFill>
                <a:latin typeface="Times New Roman"/>
                <a:ea typeface="Times New Roman"/>
                <a:cs typeface="Times New Roman"/>
                <a:sym typeface="Times New Roman"/>
              </a:rPr>
              <a:t>cost 35% to capture leverage on $120M; service 25% because 91% OTIF is the gap; risk 15% because contract coverage is only 58%. Savings are estimates, not case data.</a:t>
            </a:r>
            <a:endParaRPr>
              <a:latin typeface="Times New Roman"/>
              <a:ea typeface="Times New Roman"/>
              <a:cs typeface="Times New Roman"/>
              <a:sym typeface="Times New Roman"/>
            </a:endParaRPr>
          </a:p>
        </p:txBody>
      </p:sp>
      <p:graphicFrame>
        <p:nvGraphicFramePr>
          <p:cNvPr id="90" name="Google Shape;90;p17"/>
          <p:cNvGraphicFramePr/>
          <p:nvPr/>
        </p:nvGraphicFramePr>
        <p:xfrm>
          <a:off x="457200" y="921925"/>
          <a:ext cx="3000000" cy="3000000"/>
        </p:xfrm>
        <a:graphic>
          <a:graphicData uri="http://schemas.openxmlformats.org/drawingml/2006/table">
            <a:tbl>
              <a:tblPr>
                <a:noFill/>
                <a:tableStyleId>{07A28121-13E0-4BCF-90D3-1050FFB364F7}</a:tableStyleId>
              </a:tblPr>
              <a:tblGrid>
                <a:gridCol w="1676400"/>
                <a:gridCol w="1676400"/>
                <a:gridCol w="1676400"/>
              </a:tblGrid>
              <a:tr h="346650">
                <a:tc>
                  <a:txBody>
                    <a:bodyPr/>
                    <a:lstStyle/>
                    <a:p>
                      <a:pPr indent="0" lvl="0" marL="0" marR="0" rtl="0" algn="l">
                        <a:lnSpc>
                          <a:spcPct val="100000"/>
                        </a:lnSpc>
                        <a:spcBef>
                          <a:spcPts val="0"/>
                        </a:spcBef>
                        <a:spcAft>
                          <a:spcPts val="0"/>
                        </a:spcAft>
                        <a:buNone/>
                      </a:pPr>
                      <a:r>
                        <a:rPr b="1" lang="en" sz="1100" u="none" cap="none" strike="noStrike">
                          <a:solidFill>
                            <a:srgbClr val="FFFFFF"/>
                          </a:solidFill>
                          <a:latin typeface="Times New Roman"/>
                          <a:ea typeface="Times New Roman"/>
                          <a:cs typeface="Times New Roman"/>
                          <a:sym typeface="Times New Roman"/>
                        </a:rPr>
                        <a:t>Dimension</a:t>
                      </a:r>
                      <a:endParaRPr>
                        <a:latin typeface="Times New Roman"/>
                        <a:ea typeface="Times New Roman"/>
                        <a:cs typeface="Times New Roman"/>
                        <a:sym typeface="Times New Roman"/>
                      </a:endParaRPr>
                    </a:p>
                  </a:txBody>
                  <a:tcPr marT="18300" marB="18300" marR="64000" marL="64000" anchor="ctr">
                    <a:solidFill>
                      <a:srgbClr val="1F3864"/>
                    </a:solidFill>
                  </a:tcPr>
                </a:tc>
                <a:tc>
                  <a:txBody>
                    <a:bodyPr/>
                    <a:lstStyle/>
                    <a:p>
                      <a:pPr indent="0" lvl="0" marL="0" marR="0" rtl="0" algn="ctr">
                        <a:lnSpc>
                          <a:spcPct val="100000"/>
                        </a:lnSpc>
                        <a:spcBef>
                          <a:spcPts val="0"/>
                        </a:spcBef>
                        <a:spcAft>
                          <a:spcPts val="0"/>
                        </a:spcAft>
                        <a:buNone/>
                      </a:pPr>
                      <a:r>
                        <a:rPr b="1" lang="en" sz="1100" u="none" cap="none" strike="noStrike">
                          <a:solidFill>
                            <a:srgbClr val="FFFFFF"/>
                          </a:solidFill>
                          <a:latin typeface="Times New Roman"/>
                          <a:ea typeface="Times New Roman"/>
                          <a:cs typeface="Times New Roman"/>
                          <a:sym typeface="Times New Roman"/>
                        </a:rPr>
                        <a:t>Weight</a:t>
                      </a:r>
                      <a:endParaRPr>
                        <a:latin typeface="Times New Roman"/>
                        <a:ea typeface="Times New Roman"/>
                        <a:cs typeface="Times New Roman"/>
                        <a:sym typeface="Times New Roman"/>
                      </a:endParaRPr>
                    </a:p>
                  </a:txBody>
                  <a:tcPr marT="18300" marB="18300" marR="64000" marL="64000" anchor="ctr">
                    <a:solidFill>
                      <a:srgbClr val="1F3864"/>
                    </a:solidFill>
                  </a:tcPr>
                </a:tc>
                <a:tc>
                  <a:txBody>
                    <a:bodyPr/>
                    <a:lstStyle/>
                    <a:p>
                      <a:pPr indent="0" lvl="0" marL="0" marR="0" rtl="0" algn="l">
                        <a:lnSpc>
                          <a:spcPct val="100000"/>
                        </a:lnSpc>
                        <a:spcBef>
                          <a:spcPts val="0"/>
                        </a:spcBef>
                        <a:spcAft>
                          <a:spcPts val="0"/>
                        </a:spcAft>
                        <a:buNone/>
                      </a:pPr>
                      <a:r>
                        <a:rPr b="1" lang="en" sz="1100" u="none" cap="none" strike="noStrike">
                          <a:solidFill>
                            <a:srgbClr val="FFFFFF"/>
                          </a:solidFill>
                          <a:latin typeface="Times New Roman"/>
                          <a:ea typeface="Times New Roman"/>
                          <a:cs typeface="Times New Roman"/>
                          <a:sym typeface="Times New Roman"/>
                        </a:rPr>
                        <a:t>Measured by</a:t>
                      </a:r>
                      <a:endParaRPr>
                        <a:latin typeface="Times New Roman"/>
                        <a:ea typeface="Times New Roman"/>
                        <a:cs typeface="Times New Roman"/>
                        <a:sym typeface="Times New Roman"/>
                      </a:endParaRPr>
                    </a:p>
                  </a:txBody>
                  <a:tcPr marT="18300" marB="18300" marR="64000" marL="64000" anchor="ctr">
                    <a:solidFill>
                      <a:srgbClr val="1F3864"/>
                    </a:solidFill>
                  </a:tcPr>
                </a:tc>
              </a:tr>
              <a:tr h="315550">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Total landed logistics cost</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ctr">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35%</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Rate + fuel + accessorials + duties</a:t>
                      </a:r>
                      <a:endParaRPr>
                        <a:latin typeface="Times New Roman"/>
                        <a:ea typeface="Times New Roman"/>
                        <a:cs typeface="Times New Roman"/>
                        <a:sym typeface="Times New Roman"/>
                      </a:endParaRPr>
                    </a:p>
                  </a:txBody>
                  <a:tcPr marT="18300" marB="18300" marR="64000" marL="64000" anchor="ctr">
                    <a:solidFill>
                      <a:srgbClr val="FFFFFF"/>
                    </a:solidFill>
                  </a:tcPr>
                </a:tc>
              </a:tr>
              <a:tr h="315550">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Service and capacity</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ctr">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25%</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OTIF, claims/damage, surge capacity</a:t>
                      </a:r>
                      <a:endParaRPr>
                        <a:latin typeface="Times New Roman"/>
                        <a:ea typeface="Times New Roman"/>
                        <a:cs typeface="Times New Roman"/>
                        <a:sym typeface="Times New Roman"/>
                      </a:endParaRPr>
                    </a:p>
                  </a:txBody>
                  <a:tcPr marT="18300" marB="18300" marR="64000" marL="64000" anchor="ctr">
                    <a:solidFill>
                      <a:srgbClr val="FFFFFF"/>
                    </a:solidFill>
                  </a:tcPr>
                </a:tc>
              </a:tr>
              <a:tr h="315550">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Supply risk and continuity</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ctr">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15%</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Backup capacity, financial health</a:t>
                      </a:r>
                      <a:endParaRPr>
                        <a:latin typeface="Times New Roman"/>
                        <a:ea typeface="Times New Roman"/>
                        <a:cs typeface="Times New Roman"/>
                        <a:sym typeface="Times New Roman"/>
                      </a:endParaRPr>
                    </a:p>
                  </a:txBody>
                  <a:tcPr marT="18300" marB="18300" marR="64000" marL="64000" anchor="ctr">
                    <a:solidFill>
                      <a:srgbClr val="FFFFFF"/>
                    </a:solidFill>
                  </a:tcPr>
                </a:tc>
              </a:tr>
              <a:tr h="315550">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Technology / visibility</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ctr">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EDI, tracking, TMS integration</a:t>
                      </a:r>
                      <a:endParaRPr>
                        <a:latin typeface="Times New Roman"/>
                        <a:ea typeface="Times New Roman"/>
                        <a:cs typeface="Times New Roman"/>
                        <a:sym typeface="Times New Roman"/>
                      </a:endParaRPr>
                    </a:p>
                  </a:txBody>
                  <a:tcPr marT="18300" marB="18300" marR="64000" marL="64000" anchor="ctr">
                    <a:solidFill>
                      <a:srgbClr val="FFFFFF"/>
                    </a:solidFill>
                  </a:tcPr>
                </a:tc>
              </a:tr>
              <a:tr h="315550">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Sustainability / responsibility</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ctr">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Emissions reporting, ESG compliance</a:t>
                      </a:r>
                      <a:endParaRPr>
                        <a:latin typeface="Times New Roman"/>
                        <a:ea typeface="Times New Roman"/>
                        <a:cs typeface="Times New Roman"/>
                        <a:sym typeface="Times New Roman"/>
                      </a:endParaRPr>
                    </a:p>
                  </a:txBody>
                  <a:tcPr marT="18300" marB="18300" marR="64000" marL="64000" anchor="ctr">
                    <a:solidFill>
                      <a:srgbClr val="FFFFFF"/>
                    </a:solidFill>
                  </a:tcPr>
                </a:tc>
              </a:tr>
              <a:tr h="315550">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Implementation fit</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ctr">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5%</a:t>
                      </a:r>
                      <a:endParaRPr>
                        <a:latin typeface="Times New Roman"/>
                        <a:ea typeface="Times New Roman"/>
                        <a:cs typeface="Times New Roman"/>
                        <a:sym typeface="Times New Roman"/>
                      </a:endParaRPr>
                    </a:p>
                  </a:txBody>
                  <a:tcPr marT="18300" marB="18300" marR="64000" marL="64000" anchor="ctr">
                    <a:solidFill>
                      <a:srgbClr val="FFFFFF"/>
                    </a:solidFill>
                  </a:tcPr>
                </a:tc>
                <a:tc>
                  <a:txBody>
                    <a:bodyPr/>
                    <a:lstStyle/>
                    <a:p>
                      <a:pPr indent="0" lvl="0" marL="0" marR="0" rtl="0" algn="l">
                        <a:lnSpc>
                          <a:spcPct val="100000"/>
                        </a:lnSpc>
                        <a:spcBef>
                          <a:spcPts val="0"/>
                        </a:spcBef>
                        <a:spcAft>
                          <a:spcPts val="0"/>
                        </a:spcAft>
                        <a:buNone/>
                      </a:pPr>
                      <a:r>
                        <a:rPr lang="en" sz="1050" u="none" cap="none" strike="noStrike">
                          <a:solidFill>
                            <a:srgbClr val="000000"/>
                          </a:solidFill>
                          <a:latin typeface="Times New Roman"/>
                          <a:ea typeface="Times New Roman"/>
                          <a:cs typeface="Times New Roman"/>
                          <a:sym typeface="Times New Roman"/>
                        </a:rPr>
                        <a:t>Onboarding effort, regional coverage</a:t>
                      </a:r>
                      <a:endParaRPr>
                        <a:latin typeface="Times New Roman"/>
                        <a:ea typeface="Times New Roman"/>
                        <a:cs typeface="Times New Roman"/>
                        <a:sym typeface="Times New Roman"/>
                      </a:endParaRPr>
                    </a:p>
                  </a:txBody>
                  <a:tcPr marT="18300" marB="18300" marR="64000" marL="64000" anchor="ctr">
                    <a:solidFill>
                      <a:srgbClr val="FFFFFF"/>
                    </a:solidFill>
                  </a:tcPr>
                </a:tc>
              </a:tr>
              <a:tr h="315550">
                <a:tc>
                  <a:txBody>
                    <a:bodyPr/>
                    <a:lstStyle/>
                    <a:p>
                      <a:pPr indent="0" lvl="0" marL="0" marR="0" rtl="0" algn="l">
                        <a:lnSpc>
                          <a:spcPct val="100000"/>
                        </a:lnSpc>
                        <a:spcBef>
                          <a:spcPts val="0"/>
                        </a:spcBef>
                        <a:spcAft>
                          <a:spcPts val="0"/>
                        </a:spcAft>
                        <a:buNone/>
                      </a:pPr>
                      <a:r>
                        <a:rPr b="1" lang="en" sz="1050" u="none" cap="none" strike="noStrike">
                          <a:solidFill>
                            <a:srgbClr val="000000"/>
                          </a:solidFill>
                          <a:latin typeface="Times New Roman"/>
                          <a:ea typeface="Times New Roman"/>
                          <a:cs typeface="Times New Roman"/>
                          <a:sym typeface="Times New Roman"/>
                        </a:rPr>
                        <a:t>Total</a:t>
                      </a:r>
                      <a:endParaRPr>
                        <a:latin typeface="Times New Roman"/>
                        <a:ea typeface="Times New Roman"/>
                        <a:cs typeface="Times New Roman"/>
                        <a:sym typeface="Times New Roman"/>
                      </a:endParaRPr>
                    </a:p>
                  </a:txBody>
                  <a:tcPr marT="18300" marB="18300" marR="64000" marL="64000" anchor="ctr">
                    <a:solidFill>
                      <a:srgbClr val="F2F2F2"/>
                    </a:solidFill>
                  </a:tcPr>
                </a:tc>
                <a:tc>
                  <a:txBody>
                    <a:bodyPr/>
                    <a:lstStyle/>
                    <a:p>
                      <a:pPr indent="0" lvl="0" marL="0" marR="0" rtl="0" algn="ctr">
                        <a:lnSpc>
                          <a:spcPct val="100000"/>
                        </a:lnSpc>
                        <a:spcBef>
                          <a:spcPts val="0"/>
                        </a:spcBef>
                        <a:spcAft>
                          <a:spcPts val="0"/>
                        </a:spcAft>
                        <a:buNone/>
                      </a:pPr>
                      <a:r>
                        <a:rPr b="1" lang="en" sz="1050" u="none" cap="none" strike="noStrike">
                          <a:solidFill>
                            <a:srgbClr val="000000"/>
                          </a:solidFill>
                          <a:latin typeface="Times New Roman"/>
                          <a:ea typeface="Times New Roman"/>
                          <a:cs typeface="Times New Roman"/>
                          <a:sym typeface="Times New Roman"/>
                        </a:rPr>
                        <a:t>100%</a:t>
                      </a:r>
                      <a:endParaRPr>
                        <a:latin typeface="Times New Roman"/>
                        <a:ea typeface="Times New Roman"/>
                        <a:cs typeface="Times New Roman"/>
                        <a:sym typeface="Times New Roman"/>
                      </a:endParaRPr>
                    </a:p>
                  </a:txBody>
                  <a:tcPr marT="18300" marB="18300" marR="64000" marL="64000" anchor="ctr">
                    <a:solidFill>
                      <a:srgbClr val="F2F2F2"/>
                    </a:solidFill>
                  </a:tcPr>
                </a:tc>
                <a:tc>
                  <a:txBody>
                    <a:bodyPr/>
                    <a:lstStyle/>
                    <a:p>
                      <a:pPr indent="0" lvl="0" marL="0" marR="0" rtl="0" algn="l">
                        <a:lnSpc>
                          <a:spcPct val="100000"/>
                        </a:lnSpc>
                        <a:spcBef>
                          <a:spcPts val="0"/>
                        </a:spcBef>
                        <a:spcAft>
                          <a:spcPts val="0"/>
                        </a:spcAft>
                        <a:buNone/>
                      </a:pPr>
                      <a:r>
                        <a:t/>
                      </a:r>
                      <a:endParaRPr sz="1400" u="none" cap="none" strike="noStrike">
                        <a:solidFill>
                          <a:srgbClr val="000000"/>
                        </a:solidFill>
                        <a:latin typeface="Times New Roman"/>
                        <a:ea typeface="Times New Roman"/>
                        <a:cs typeface="Times New Roman"/>
                        <a:sym typeface="Times New Roman"/>
                      </a:endParaRPr>
                    </a:p>
                  </a:txBody>
                  <a:tcPr marT="18300" marB="18300" marR="64000" marL="64000" anchor="ctr">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Execution</a:t>
            </a:r>
            <a:endParaRPr>
              <a:latin typeface="Times New Roman"/>
              <a:ea typeface="Times New Roman"/>
              <a:cs typeface="Times New Roman"/>
              <a:sym typeface="Times New Roman"/>
            </a:endParaRPr>
          </a:p>
        </p:txBody>
      </p:sp>
      <p:sp>
        <p:nvSpPr>
          <p:cNvPr id="96" name="Google Shape;96;p18"/>
          <p:cNvSpPr txBox="1"/>
          <p:nvPr>
            <p:ph idx="2" type="body"/>
          </p:nvPr>
        </p:nvSpPr>
        <p:spPr>
          <a:xfrm>
            <a:off x="2909400" y="1112400"/>
            <a:ext cx="3024900" cy="403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Owners</a:t>
            </a:r>
            <a:r>
              <a:rPr lang="en"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Finance lead</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-Owns spend visibility by collecting, cleaning, and standardizing transportation data across the company.</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Procurement lead</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-Owns carrier rationalization by evaluating carriers and determining where volume can be strategically consolidated</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endParaRPr>
          </a:p>
        </p:txBody>
      </p:sp>
      <p:sp>
        <p:nvSpPr>
          <p:cNvPr id="97" name="Google Shape;97;p18"/>
          <p:cNvSpPr txBox="1"/>
          <p:nvPr>
            <p:ph idx="2" type="body"/>
          </p:nvPr>
        </p:nvSpPr>
        <p:spPr>
          <a:xfrm>
            <a:off x="0" y="1112400"/>
            <a:ext cx="2909400" cy="40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Initiatives:</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Improve spend visibility</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Create a standardized system to track and compare logistics spending across all regions, modes, currencies, and lanes</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Carrier Rationalization and consolidation</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-Reduce the 96-carrier base and consolidate volume with fewer high-performing carriers to increase buying leverage.</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Carrier performance management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1100">
                <a:solidFill>
                  <a:schemeClr val="dk1"/>
                </a:solidFill>
                <a:latin typeface="Times New Roman"/>
                <a:ea typeface="Times New Roman"/>
                <a:cs typeface="Times New Roman"/>
                <a:sym typeface="Times New Roman"/>
              </a:rPr>
              <a:t>-Use standardized scorecards and quarterly reviews to consistently measure and improve carrier performance</a:t>
            </a:r>
            <a:endParaRPr sz="1100">
              <a:solidFill>
                <a:schemeClr val="dk1"/>
              </a:solidFill>
              <a:latin typeface="Times New Roman"/>
              <a:ea typeface="Times New Roman"/>
              <a:cs typeface="Times New Roman"/>
              <a:sym typeface="Times New Roman"/>
            </a:endParaRPr>
          </a:p>
        </p:txBody>
      </p:sp>
      <p:sp>
        <p:nvSpPr>
          <p:cNvPr id="98" name="Google Shape;98;p18"/>
          <p:cNvSpPr txBox="1"/>
          <p:nvPr>
            <p:ph idx="2" type="body"/>
          </p:nvPr>
        </p:nvSpPr>
        <p:spPr>
          <a:xfrm>
            <a:off x="5934300" y="1112400"/>
            <a:ext cx="3209700" cy="39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KPI’s:</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 of logistics spend visible</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-Measures how much of NorthStar's $120M logistics spend can be accurately analyzed and compared</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 of active carriers / % spend with preferred carriers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-Measures progress in reducing fragmentation and concentrating volume with strategic carriers</a:t>
            </a:r>
            <a:endParaRPr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OTIF% / % spend covered by scorecards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Measures carrier service improvement and how consistently NorthStar evaluates carrier performance. Current OTIF is 91%, while only 35% of spend has performance scorecards</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Risk and Mitigation</a:t>
            </a:r>
            <a:endParaRPr>
              <a:latin typeface="Times New Roman"/>
              <a:ea typeface="Times New Roman"/>
              <a:cs typeface="Times New Roman"/>
              <a:sym typeface="Times New Roman"/>
            </a:endParaRPr>
          </a:p>
        </p:txBody>
      </p:sp>
      <p:sp>
        <p:nvSpPr>
          <p:cNvPr id="104" name="Google Shape;104;p19"/>
          <p:cNvSpPr txBox="1"/>
          <p:nvPr>
            <p:ph idx="1" type="body"/>
          </p:nvPr>
        </p:nvSpPr>
        <p:spPr>
          <a:xfrm>
            <a:off x="292175" y="1142725"/>
            <a:ext cx="3616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latin typeface="Times New Roman"/>
                <a:ea typeface="Times New Roman"/>
                <a:cs typeface="Times New Roman"/>
                <a:sym typeface="Times New Roman"/>
              </a:rPr>
              <a:t>MAJOR FAILURE: </a:t>
            </a:r>
            <a:r>
              <a:rPr lang="en" sz="1400">
                <a:solidFill>
                  <a:schemeClr val="dk1"/>
                </a:solidFill>
                <a:latin typeface="Times New Roman"/>
                <a:ea typeface="Times New Roman"/>
                <a:cs typeface="Times New Roman"/>
                <a:sym typeface="Times New Roman"/>
              </a:rPr>
              <a:t>Disparity between the 3PLs and their different processes</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Difference in regional understanding between 3PLs</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3PLs may process purchases and transportation process differently, so differences in</a:t>
            </a:r>
            <a:endParaRPr sz="1400">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Lead time</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Reporting </a:t>
            </a:r>
            <a:r>
              <a:rPr lang="en">
                <a:solidFill>
                  <a:schemeClr val="dk1"/>
                </a:solidFill>
                <a:latin typeface="Times New Roman"/>
                <a:ea typeface="Times New Roman"/>
                <a:cs typeface="Times New Roman"/>
                <a:sym typeface="Times New Roman"/>
              </a:rPr>
              <a:t>issues</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Standards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Can lead to non-compliance, </a:t>
            </a:r>
            <a:r>
              <a:rPr lang="en" sz="1400">
                <a:solidFill>
                  <a:schemeClr val="dk1"/>
                </a:solidFill>
                <a:latin typeface="Times New Roman"/>
                <a:ea typeface="Times New Roman"/>
                <a:cs typeface="Times New Roman"/>
                <a:sym typeface="Times New Roman"/>
              </a:rPr>
              <a:t>incoterm issues, and prove to be less cost-efficient </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
        <p:nvSpPr>
          <p:cNvPr id="105" name="Google Shape;105;p19"/>
          <p:cNvSpPr txBox="1"/>
          <p:nvPr/>
        </p:nvSpPr>
        <p:spPr>
          <a:xfrm>
            <a:off x="4506900" y="1142725"/>
            <a:ext cx="4325400" cy="331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MITIGATION</a:t>
            </a:r>
            <a:r>
              <a:rPr b="1" lang="en">
                <a:solidFill>
                  <a:schemeClr val="dk1"/>
                </a:solidFill>
                <a:latin typeface="Times New Roman"/>
                <a:ea typeface="Times New Roman"/>
                <a:cs typeface="Times New Roman"/>
                <a:sym typeface="Times New Roman"/>
              </a:rPr>
              <a:t>:</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To remove disparity with Incoterms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Incorporate a global routing mandate to ensure over-sea and cross-border compliance is in check for all 3PL partners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Create a Transportation Management System (TMS) to have a centralized location for reports and KPIs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Having an internal logistics team that can monitor all 3PLs, to ensure all procedure is followed </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Hold benchmark meetings with 3PLs to gain updates and understandings</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